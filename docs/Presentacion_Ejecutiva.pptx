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9144000" cy="5143500" type="screen16x9"/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</p:presentation>
</file>

<file path=ppt/_rels/presentation.xml.rels><?xml version="1.0"?><Relationships xmlns="http://schemas.openxmlformats.org/package/2006/relationships"><Relationship Id="rIdTheme" Type="http://schemas.openxmlformats.org/officeDocument/2006/relationships/theme" Target="theme/theme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/Relationships>
</file>

<file path=ppt/slides/_rels/slide3.xml.rels><?xml version="1.0"?><Relationships xmlns="http://schemas.openxmlformats.org/package/2006/relationships"><Relationship Id="rIdImg1" Type="http://schemas.openxmlformats.org/officeDocument/2006/relationships/image" Target="../media/ER_Ecommify.png"/></Relationships>
</file>

<file path=ppt/slides/_rels/slide9.xml.rels><?xml version="1.0"?><Relationships xmlns="http://schemas.openxmlformats.org/package/2006/relationships"><Relationship Id="rIdImg1" Type="http://schemas.openxmlformats.org/officeDocument/2006/relationships/image" Target="../media/arquitectura_hibrida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Ecommify Database Design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Diseno conceptual y logico PostgreSQL + MongoDB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Arquitectura Poliglota Hibrida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Equipo: Andres Fernando Diaz Moreno, Carlos Alberto Arevalo Martinez, Luis Alfredo Gonzalez Mercado, Andres Camilo Lopez Castro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Contexto y Requisitos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Marketplace multivendedor basado en Olist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OLTP: ordenes, pagos, clientes, envios y auditoria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OLAP: ventas, segmentos, sellers y geografia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Metas: &lt;100 ms PostgreSQL, &lt;200 ms MongoDB, &gt;99% disponibilidad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Diseno Conceptual ER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Customer usa customer_unique_id como identidad real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Category se separa para cumplir 3FN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Order, OrderItem, Payment y StatusHistory forman el nucleo transaccional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Review queda como entidad logica con almacenamiento en MongoDB</a:t>
            </a:r>
          </a:p>
        </p:txBody>
      </p:sp>
      <p:pic>
        <p:nvPicPr>
          <p:cNvPr id="6180050" name="Picture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100000" y="1080000"/>
            <a:ext cx="3900000" cy="26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Esquema Relacional PostgreSQL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Tablas: customer, order, order_item, payment, product, seller, category, promotion, geolocation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Order se particiona por order_purchase_timestamp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FKs estrictas y CHECK constraints para negocio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Materialized views para reportería sin cargar OLTP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Tipos Avanzados y Extensiones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JSONB: especificaciones variables de producto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TEXT[]: fotos y etiquetas; HSTORE: metadatos ligeros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TSTZRANGE: vigencia de promociones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PostGIS, pg_trgm, pgcrypto, hstore y btree_gin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Modulo MongoDB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product_catalog como proyeccion denormalizada de lectura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reviews como storage primario con referencias logicas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analytics_events con Bucket Pattern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user_sessions con TTL nativo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Matriz de Decision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PostgreSQL: ACID, relaciones criticas, auditoria y consistencia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MongoDB: documentos flexibles, alta lectura/escritura y datos efimeros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Product fuente de verdad en PostgreSQL; product_catalog se sincroniza a MongoDB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Reviews aceptan consistencia eventual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Analisis CAP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Pagos, ordenes y catalogo fuente: CP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Catalogo de lectura, reviews, eventos y sesiones: AP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No hay posicion CAP global unica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La arquitectura hibrida asigna CAP por modulo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Arquitectura Hibrida y Sincronizacion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CDC Debezium/Kafka como opcion primaria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ETL cada 6 horas/nocturno como fallback para Atlas M0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Upserts idempotentes por product_id y validacion por timestamps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42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Checkout siempre verifica contra PostgreSQL</a:t>
            </a:r>
          </a:p>
        </p:txBody>
      </p:sp>
      <p:pic>
        <p:nvPicPr>
          <p:cNvPr id="6180050" name="Picture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100000" y="1080000"/>
            <a:ext cx="3900000" cy="26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Limitaciones y Mitigaciones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Supabase free tier: indices selectivos, particiones y refresh fuera de pico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Atlas M0: TTL, productos activos y sin sharding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Referencias cross-motor: validacion en aplicacion y deteccion ETL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Precio sujeto a verificacion transaccional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10" name="Text"/>
          <p:cNvSpPr txBox="1"/>
          <p:nvPr/>
        </p:nvSpPr>
        <p:spPr>
          <a:xfrm>
            <a:off x="450000" y="260000"/>
            <a:ext cx="8200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3200" b="1">
                <a:solidFill>
                  <a:srgbClr val="0F4C81"/>
                </a:solidFill>
              </a:rPr>
              <a:t>Plan de Implementacion</a:t>
            </a:r>
          </a:p>
        </p:txBody>
      </p:sp>
      <p:sp>
        <p:nvSpPr>
          <p:cNvPr id="1630010" name="Text"/>
          <p:cNvSpPr txBox="1"/>
          <p:nvPr/>
        </p:nvSpPr>
        <p:spPr>
          <a:xfrm>
            <a:off x="650000" y="9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1. Crear extensiones, tipos y tablas PostgreSQL</a:t>
            </a:r>
          </a:p>
        </p:txBody>
      </p:sp>
      <p:sp>
        <p:nvSpPr>
          <p:cNvPr id="2080010" name="Text"/>
          <p:cNvSpPr txBox="1"/>
          <p:nvPr/>
        </p:nvSpPr>
        <p:spPr>
          <a:xfrm>
            <a:off x="650000" y="14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2. Cargar Olist por chunks y validar constraints</a:t>
            </a:r>
          </a:p>
        </p:txBody>
      </p:sp>
      <p:sp>
        <p:nvSpPr>
          <p:cNvPr id="2530010" name="Text"/>
          <p:cNvSpPr txBox="1"/>
          <p:nvPr/>
        </p:nvSpPr>
        <p:spPr>
          <a:xfrm>
            <a:off x="650000" y="18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3. Crear indices, particiones, triggers y MVs</a:t>
            </a:r>
          </a:p>
        </p:txBody>
      </p:sp>
      <p:sp>
        <p:nvSpPr>
          <p:cNvPr id="2980010" name="Text"/>
          <p:cNvSpPr txBox="1"/>
          <p:nvPr/>
        </p:nvSpPr>
        <p:spPr>
          <a:xfrm>
            <a:off x="650000" y="233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4. Crear colecciones MongoDB e indices</a:t>
            </a:r>
          </a:p>
        </p:txBody>
      </p:sp>
      <p:sp>
        <p:nvSpPr>
          <p:cNvPr id="3430010" name="Text"/>
          <p:cNvSpPr txBox="1"/>
          <p:nvPr/>
        </p:nvSpPr>
        <p:spPr>
          <a:xfrm>
            <a:off x="650000" y="2780000"/>
            <a:ext cx="8000000" cy="39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s-CO" sz="1850">
                <a:solidFill>
                  <a:srgbClr val="1F2937"/>
                </a:solidFill>
              </a:rPr>
              <a:t>• 5. Implementar ETL/CDC y pruebas de consistencia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mmify">
  <a:themeElements>
    <a:clrScheme name="Office">
      <a:dk1>
        <a:srgbClr val="111111"/>
      </a:dk1>
      <a:lt1>
        <a:srgbClr val="FFFFFF"/>
      </a:lt1>
      <a:accent1>
        <a:srgbClr val="0F4C81"/>
      </a:accent1>
    </a:clrScheme>
    <a:fontScheme name="Arial">
      <a:majorFont>
        <a:latin typeface="Arial"/>
      </a:majorFont>
      <a:minorFont>
        <a:latin typeface="Arial"/>
      </a:minorFont>
    </a:fontScheme>
    <a:fmtScheme name="Default">
      <a:fillStyleLst/>
      <a:lnStyleLst/>
      <a:effectStyleLst/>
      <a:bgFillStyleLst/>
    </a:fmtScheme>
  </a:themeElements>
</a:theme>
</file>