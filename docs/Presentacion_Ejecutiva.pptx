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RWSnzLIlXb7pz8VC7FzoGzM3A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" y="114300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Ecommify Database Design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21792" y="187452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72033"/>
                </a:solidFill>
              </a:rPr>
              <a:t>Diseño</a:t>
            </a: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conceptual y </a:t>
            </a:r>
            <a:r>
              <a:rPr lang="en-US" sz="1700">
                <a:solidFill>
                  <a:srgbClr val="172033"/>
                </a:solidFill>
              </a:rPr>
              <a:t>lógico</a:t>
            </a: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de la base de datos del proyecto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21792" y="233172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E766E"/>
                </a:solidFill>
                <a:latin typeface="Arial"/>
                <a:ea typeface="Arial"/>
                <a:cs typeface="Arial"/>
                <a:sym typeface="Arial"/>
              </a:rPr>
              <a:t>Arquitectura Poliglota Hibrida: PostgreSQL + MongoDB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21792" y="539496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Andres Fernando Diaz Moreno | Carlos Alberto Arevalo Martinez | Luis Alfredo Gonzalez Mercado | Andres Camilo Lopez Castro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Contexto y requisitos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68680" y="1234440"/>
            <a:ext cx="10332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Arial"/>
              <a:buChar char="➔"/>
            </a:pP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Marketplace multivendedor basado en el dataset Brazilian E-Commerce by Olist.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Arial"/>
              <a:buChar char="➔"/>
            </a:pP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Cargas OLTP: ordenes, pagos, clientes, </a:t>
            </a:r>
            <a:r>
              <a:rPr lang="en-US" sz="2200">
                <a:solidFill>
                  <a:srgbClr val="172033"/>
                </a:solidFill>
              </a:rPr>
              <a:t>envíos</a:t>
            </a: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200">
                <a:solidFill>
                  <a:srgbClr val="172033"/>
                </a:solidFill>
              </a:rPr>
              <a:t>auditoría</a:t>
            </a: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Arial"/>
              <a:buChar char="➔"/>
            </a:pP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Cargas OLAP: ventas por categoria, segmentos de clientes, sellers y geografia.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Arial"/>
              <a:buChar char="➔"/>
            </a:pP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Metas: menos de 100 ms en PostgreSQL, menos de 200 ms en MongoDB y </a:t>
            </a:r>
            <a:r>
              <a:rPr lang="en-US" sz="2200">
                <a:solidFill>
                  <a:srgbClr val="172033"/>
                </a:solidFill>
              </a:rPr>
              <a:t>más</a:t>
            </a:r>
            <a:r>
              <a:rPr b="0" i="0" lang="en-US" sz="2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de 99% de disponibilidad.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Diseno conceptual 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85800" y="1143000"/>
            <a:ext cx="4617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Char char="➔"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Customer usa customer_unique_id como identidad real del cliente.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Char char="➔"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Category se separa para corregir la dependencia transitiva del modelo inicial.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Char char="➔"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Order, OrderItem, Payment y OrderStatusHistory forman el nucleo transaccional.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Char char="➔"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Review queda como entidad </a:t>
            </a:r>
            <a:r>
              <a:rPr lang="en-US" sz="1700">
                <a:solidFill>
                  <a:srgbClr val="172033"/>
                </a:solidFill>
              </a:rPr>
              <a:t>lógica</a:t>
            </a: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con almacenamiento fisico en MongoDB.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luisgonzalez/Downloads/Bases_de_Datos/Ecommify_Database_Design/docs/diagrams/ER_Ecommify.png" id="38" name="Google Shape;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1005840"/>
            <a:ext cx="598932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5577840" y="1005840"/>
            <a:ext cx="5989320" cy="434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Esquema relacional PostgreSQL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68680" y="1234440"/>
            <a:ext cx="10332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Tablas principales: customer, order, order_item, payment, product, seller, category, promotion y geolocation.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Order se particiona por order_purchase_timestamp para consultas por rango temporal.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FKs y CHECK constraints protegen integridad transaccional y reglas de negocio.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Materialized views separan reportería de la carga OLTP.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Tipos avanzados y extensiones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68680" y="1234440"/>
            <a:ext cx="10332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JSONB para especificaciones variables de producto.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TEXT[] para fotos y etiquetas; HSTORE para metadatos ligeros.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TSTZRANGE para vigencia de promociones.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Char char="➔"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PostGIS, pg_trgm, pgcrypto, hstore y btree_gin como extensiones justificadas.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Modulo MongoDB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68680" y="1234440"/>
            <a:ext cx="10332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400"/>
              <a:buFont typeface="Arial"/>
              <a:buChar char="➔"/>
            </a:pPr>
            <a:r>
              <a:rPr b="0" i="0" lang="en-US" sz="2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product_catalog como proyeccion denormalizada para lectura de frontend.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400"/>
              <a:buFont typeface="Arial"/>
              <a:buChar char="➔"/>
            </a:pPr>
            <a:r>
              <a:rPr b="0" i="0" lang="en-US" sz="2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reviews como storage primario con referencias logicas a PostgreSQL.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400"/>
              <a:buFont typeface="Arial"/>
              <a:buChar char="➔"/>
            </a:pPr>
            <a:r>
              <a:rPr b="0" i="0" lang="en-US" sz="2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analytics_events usa Bucket Pattern para alto throughput.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400"/>
              <a:buFont typeface="Arial"/>
              <a:buChar char="➔"/>
            </a:pPr>
            <a:r>
              <a:rPr b="0" i="0" lang="en-US" sz="2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user_sessions usa TTL nativo para datos efimeros.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Matriz de decision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868675" y="1234443"/>
            <a:ext cx="103326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PostgreSQL aloja entidades con ACID, relaciones criticas y auditoria.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MongoDB aloja documentos flexibles, alto volumen de eventos y datos efimeros.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Product es fuente de verdad en PostgreSQL; product_catalog se sincroniza a MongoDB.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Reviews aceptan consistencia eventual por su menor criticidad transaccional.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968550" y="3788400"/>
            <a:ext cx="10692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16510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Char char="•"/>
            </a:pPr>
            <a:r>
              <a:rPr lang="en-US" sz="1600">
                <a:solidFill>
                  <a:srgbClr val="172033"/>
                </a:solidFill>
              </a:rPr>
              <a:t>Pagos, ordenes y catalogo fuente se </a:t>
            </a:r>
            <a:r>
              <a:rPr lang="en-US" sz="1600">
                <a:solidFill>
                  <a:srgbClr val="172033"/>
                </a:solidFill>
              </a:rPr>
              <a:t>diseñan</a:t>
            </a:r>
            <a:r>
              <a:rPr lang="en-US" sz="1600">
                <a:solidFill>
                  <a:srgbClr val="172033"/>
                </a:solidFill>
              </a:rPr>
              <a:t> como CP.</a:t>
            </a:r>
            <a:endParaRPr sz="1600">
              <a:solidFill>
                <a:schemeClr val="dk1"/>
              </a:solidFill>
            </a:endParaRPr>
          </a:p>
          <a:p>
            <a:pPr indent="-165100" lvl="0" marL="16510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Char char="•"/>
            </a:pPr>
            <a:r>
              <a:rPr lang="en-US" sz="1600">
                <a:solidFill>
                  <a:srgbClr val="172033"/>
                </a:solidFill>
              </a:rPr>
              <a:t>Catalogo de lectura, reviews, eventos y sesiones se </a:t>
            </a:r>
            <a:r>
              <a:rPr lang="en-US" sz="1600">
                <a:solidFill>
                  <a:srgbClr val="172033"/>
                </a:solidFill>
              </a:rPr>
              <a:t>diseñan</a:t>
            </a:r>
            <a:r>
              <a:rPr lang="en-US" sz="1600">
                <a:solidFill>
                  <a:srgbClr val="172033"/>
                </a:solidFill>
              </a:rPr>
              <a:t> como AP.</a:t>
            </a:r>
            <a:endParaRPr sz="1600">
              <a:solidFill>
                <a:schemeClr val="dk1"/>
              </a:solidFill>
            </a:endParaRPr>
          </a:p>
          <a:p>
            <a:pPr indent="-165100" lvl="0" marL="16510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Char char="•"/>
            </a:pPr>
            <a:r>
              <a:rPr lang="en-US" sz="1600">
                <a:solidFill>
                  <a:srgbClr val="172033"/>
                </a:solidFill>
              </a:rPr>
              <a:t>No existe una </a:t>
            </a:r>
            <a:r>
              <a:rPr lang="en-US" sz="1600">
                <a:solidFill>
                  <a:srgbClr val="172033"/>
                </a:solidFill>
              </a:rPr>
              <a:t>posición</a:t>
            </a:r>
            <a:r>
              <a:rPr lang="en-US" sz="1600">
                <a:solidFill>
                  <a:srgbClr val="172033"/>
                </a:solidFill>
              </a:rPr>
              <a:t> CAP global </a:t>
            </a:r>
            <a:r>
              <a:rPr lang="en-US" sz="1600">
                <a:solidFill>
                  <a:srgbClr val="172033"/>
                </a:solidFill>
              </a:rPr>
              <a:t>óptima</a:t>
            </a:r>
            <a:r>
              <a:rPr lang="en-US" sz="1600">
                <a:solidFill>
                  <a:srgbClr val="172033"/>
                </a:solidFill>
              </a:rPr>
              <a:t> para todo Ecommify.</a:t>
            </a:r>
            <a:endParaRPr sz="1600">
              <a:solidFill>
                <a:schemeClr val="dk1"/>
              </a:solidFill>
            </a:endParaRPr>
          </a:p>
          <a:p>
            <a:pPr indent="-165100" lvl="0" marL="16510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Char char="•"/>
            </a:pPr>
            <a:r>
              <a:rPr lang="en-US" sz="1600">
                <a:solidFill>
                  <a:srgbClr val="172033"/>
                </a:solidFill>
              </a:rPr>
              <a:t>La arquitectura hibrida asigna el trade-off CAP por modulo.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551861" y="2971290"/>
            <a:ext cx="9966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Analisis CAP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Arquitectura hibrida y sincronizacion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685800" y="1143000"/>
            <a:ext cx="4617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CDC con Debezium/Kafka como opcion primaria.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ETL cada 6 horas o nocturno como fallback para Atlas M0.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Upserts idempotentes por product_id y validacion por source_updated_at.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El checkout valida precio y promociones contra PostgreSQL.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luisgonzalez/Downloads/Bases_de_Datos/Ecommify_Database_Design/docs/diagrams/arquitectura_hibrida.png" id="87" name="Google Shape;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1005840"/>
            <a:ext cx="598932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5577840" y="1005840"/>
            <a:ext cx="5989320" cy="434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2700">
            <a:solidFill>
              <a:srgbClr val="D8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Limitaciones y mitigaciones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868680" y="1234440"/>
            <a:ext cx="10332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Supabase free tier: indices selectivos, particiones y refresh fuera de horas pico.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Atlas M0: TTL, catalogo solo de productos activos y sin sharding.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Referencias cross-motor: validacion en aplicacion y deteccion ETL.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Consistencia eventual del catalogo mitigada por validacion transaccional en checkout.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4C81"/>
          </a:solidFill>
          <a:ln cap="flat" cmpd="sng" w="1270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502920" y="320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C8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4C81"/>
                </a:solidFill>
                <a:latin typeface="Arial"/>
                <a:ea typeface="Arial"/>
                <a:cs typeface="Arial"/>
                <a:sym typeface="Arial"/>
              </a:rPr>
              <a:t>Plan de implementacion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868680" y="1234440"/>
            <a:ext cx="1033272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1. Crear extensiones, tipos y tablas PostgreSQL.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2. Cargar Olist por chunks y validar constraints.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3. Crear indices, particiones, triggers y materialized views.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4. Crear colecciones MongoDB e indices.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5. Implementar ETL/CDC y pruebas de consistencia.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B667A"/>
                </a:solidFill>
                <a:latin typeface="Arial"/>
                <a:ea typeface="Arial"/>
                <a:cs typeface="Arial"/>
                <a:sym typeface="Arial"/>
              </a:rPr>
              <a:t>Ecommify Database Design | 11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2026-05-24T21:26:51Z</dcterms:created>
  <dc:creator>Ecommify Database Design Team</dc:creator>
</cp:coreProperties>
</file>