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6858000"/>
          </a:xfrm>
          <a:prstGeom prst="rect">
            <a:avLst/>
          </a:prstGeom>
          <a:solidFill>
            <a:srgbClr val="64CCC5"/>
          </a:solidFill>
          <a:ln w="12700">
            <a:solidFill>
              <a:srgbClr val="64CCC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64CCC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ECOMMIFY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6217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Análisis arquitectónico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Teorema CAP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04672" y="3337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8E4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DECISIONES POR MÓDULO · FALLAS · TRADE-OFFS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55280" y="1143000"/>
            <a:ext cx="1828800" cy="1828800"/>
          </a:xfrm>
          <a:prstGeom prst="ellipse">
            <a:avLst/>
          </a:prstGeom>
          <a:solidFill>
            <a:srgbClr val="176B87"/>
          </a:solidFill>
          <a:ln w="25400">
            <a:solidFill>
              <a:srgbClr val="64CC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7007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CP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9418320" y="3246120"/>
            <a:ext cx="1828800" cy="1828800"/>
          </a:xfrm>
          <a:prstGeom prst="ellipse">
            <a:avLst/>
          </a:prstGeom>
          <a:solidFill>
            <a:srgbClr val="21867A"/>
          </a:solidFill>
          <a:ln w="25400">
            <a:solidFill>
              <a:srgbClr val="64CC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0" y="38039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804672" y="5943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 6 · Etapa 1 formativa · Junio de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arquitectura no tiene una única política CAP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criticidad del dato determina qué propiedad se sacrifica durante una partición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27940">
            <a:solidFill>
              <a:srgbClr val="64CC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3291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Ecommify · Análisis arquitectónico CAP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17320"/>
            <a:ext cx="73152" cy="35661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733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 · Consistency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301752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lectura observa el dato más reciente o recibe un error. Es obligatoria para dinero, inventario y estados canónicos.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0832" y="141732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1417320"/>
            <a:ext cx="73152" cy="356616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6733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6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· Availability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99432" y="2240280"/>
            <a:ext cx="301752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 solicitud recibe respuesta, aunque pueda contener una versión temporalmente desactualizada.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65008" y="141732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5008" y="1417320"/>
            <a:ext cx="73152" cy="3566160"/>
          </a:xfrm>
          <a:prstGeom prst="rect">
            <a:avLst/>
          </a:prstGeom>
          <a:solidFill>
            <a:srgbClr val="21867A"/>
          </a:solidFill>
          <a:ln w="12700">
            <a:solidFill>
              <a:srgbClr val="2186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16733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86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 · Partition tolerance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93608" y="2240280"/>
            <a:ext cx="301752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continúa operando aunque la red separe nodos o servicios. En distribución real no es opcional.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57400" y="54406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Durante una partición, la elección práctica es CP o AP.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híbrida implementada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frontera entre motores coincide con la frontera de riesgo del negocio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27940">
            <a:solidFill>
              <a:srgbClr val="64CC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3291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Ecommify · Análisis arquitectónico CAP</a:t>
            </a:r>
            <a:endParaRPr lang="en-US" sz="800" dirty="0"/>
          </a:p>
        </p:txBody>
      </p:sp>
      <p:pic>
        <p:nvPicPr>
          <p:cNvPr id="7" name="Image 0" descr="/Users/luisgonzalez/Documents/development/maestria/Bases_de_Datos/unidad4/Ecommify_Database_Design/docs/diagrams/arquitectura_hibri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98448"/>
            <a:ext cx="7818120" cy="4087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732520" y="1353312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32520" y="1353312"/>
            <a:ext cx="73152" cy="1645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0" y="160934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CP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961120" y="2176272"/>
            <a:ext cx="22402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órdenes · pagos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inventario · maestro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732520" y="3273552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32520" y="3273552"/>
            <a:ext cx="73152" cy="164592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61120" y="352958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6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961120" y="4096512"/>
            <a:ext cx="22402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catálogo · eventos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reseñas · sesiones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83880" y="5486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8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Regla: catálogo informa; checkout confirma.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CAP por módulo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decisión se justifica por costo del error, no por preferencia tecnológica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27940">
            <a:solidFill>
              <a:srgbClr val="64CC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3291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Ecommify · Análisis arquitectónico CAP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5212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536192"/>
            <a:ext cx="685800" cy="38404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0934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150876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Órdenes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orden parcial rompe trazabilidad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5212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82512" y="1536192"/>
            <a:ext cx="685800" cy="38404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0934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69480" y="150876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69480" y="183794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acepta cobro divergente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2532888"/>
            <a:ext cx="5212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" y="2743200"/>
            <a:ext cx="685800" cy="38404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281635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37360" y="27157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Inventario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37360" y="304495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 sobreventa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2532888"/>
            <a:ext cx="5212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82512" y="2743200"/>
            <a:ext cx="685800" cy="38404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281635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69480" y="27157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maestro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69480" y="304495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canónico y referencias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" y="3739896"/>
            <a:ext cx="5212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392" y="3950208"/>
            <a:ext cx="685800" cy="384048"/>
          </a:xfrm>
          <a:prstGeom prst="round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402336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737360" y="392277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Catálogo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737360" y="42519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Frescura temporal aceptable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3739896"/>
            <a:ext cx="5212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82512" y="3950208"/>
            <a:ext cx="685800" cy="384048"/>
          </a:xfrm>
          <a:prstGeom prst="round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402336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69480" y="392277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Reseñas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69480" y="42519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Visibilidad puede retrasarse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85800" y="4946904"/>
            <a:ext cx="5212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0392" y="5157216"/>
            <a:ext cx="685800" cy="384048"/>
          </a:xfrm>
          <a:prstGeom prst="round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" y="523036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737360" y="512978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737360" y="545896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 y continuidad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17920" y="4946904"/>
            <a:ext cx="5212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82512" y="5157216"/>
            <a:ext cx="685800" cy="384048"/>
          </a:xfrm>
          <a:prstGeom prst="round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2512" y="523036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69480" y="512978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Sesiones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269480" y="545896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efímero recuperable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Módulos CP · Qué se protege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disponibilidad se sacrifica para evitar daños financieros y referenciales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27940">
            <a:solidFill>
              <a:srgbClr val="64CC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3291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Ecommify · Análisis arquitectónico CAP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3840480" cy="4480560"/>
          </a:xfrm>
          <a:prstGeom prst="roundRect">
            <a:avLst>
              <a:gd name="adj" fmla="val 190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20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64CCC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CONSISTENCIA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64CCC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NEGOCIABLE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97280" y="3291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Órdenes · pagos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inventario · promociones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" y="46634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no se puede confirmar,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9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operación se difiere.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92040" y="1371600"/>
            <a:ext cx="3108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371600"/>
            <a:ext cx="73152" cy="1965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6276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20640" y="2194560"/>
            <a:ext cx="26974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Transacciones ACID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FK y restricciones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Idempotency key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75320" y="1371600"/>
            <a:ext cx="3108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1371600"/>
            <a:ext cx="73152" cy="1965960"/>
          </a:xfrm>
          <a:prstGeom prst="rect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6276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4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Falla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2194560"/>
            <a:ext cx="26974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Rechazo explícito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pending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Reintento acotado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92040" y="3703320"/>
            <a:ext cx="3108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3703320"/>
            <a:ext cx="73152" cy="1965960"/>
          </a:xfrm>
          <a:prstGeom prst="rect">
            <a:avLst/>
          </a:prstGeom>
          <a:solidFill>
            <a:srgbClr val="21867A"/>
          </a:solidFill>
          <a:ln w="12700">
            <a:solidFill>
              <a:srgbClr val="2186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395935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86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Integración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120640" y="4526280"/>
            <a:ext cx="26974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Outbox dentro del commit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Proyección posterior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75320" y="3703320"/>
            <a:ext cx="3108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75320" y="3703320"/>
            <a:ext cx="73152" cy="196596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395935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6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Garantía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503920" y="4526280"/>
            <a:ext cx="26974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hay cobro supuesto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hay sobreventa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Módulos AP · Qué se tolera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Disponibilidad continua con ventanas controladas de inconsistencia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27940">
            <a:solidFill>
              <a:srgbClr val="64CC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3291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Ecommify · Análisis arquitectónico CAP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71600"/>
            <a:ext cx="73152" cy="411480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276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6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Catálogo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210312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mostrar una versión anterior. Precio y stock se revalidan al comprar.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9000" y="137160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371600"/>
            <a:ext cx="73152" cy="4114800"/>
          </a:xfrm>
          <a:prstGeom prst="rect">
            <a:avLst/>
          </a:prstGeom>
          <a:solidFill>
            <a:srgbClr val="21867A"/>
          </a:solidFill>
          <a:ln w="12700">
            <a:solidFill>
              <a:srgbClr val="2186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6276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86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Reseñas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0" y="2194560"/>
            <a:ext cx="210312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Publicación y moderación pueden retrasarse sin afectar el núcleo financiero.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137160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371600"/>
            <a:ext cx="73152" cy="4114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6276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Eventos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2194560"/>
            <a:ext cx="210312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aceptan reintentos y duplicados mitigados por event_id.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15400" y="137160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15400" y="1371600"/>
            <a:ext cx="73152" cy="4114800"/>
          </a:xfrm>
          <a:prstGeom prst="rect">
            <a:avLst/>
          </a:prstGeom>
          <a:solidFill>
            <a:srgbClr val="64CCC5"/>
          </a:solidFill>
          <a:ln w="12700">
            <a:solidFill>
              <a:srgbClr val="64CC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16276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CCC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Sesiones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4000" y="2194560"/>
            <a:ext cx="210312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estado es efímero, reconstruible y expira mediante TTL.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580644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Mitigaciones comunes: idempotencia · timestamp de origen · reconciliación · monitoreo de lag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Escenarios de partición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degradación es parcial: el sistema conserva las capacidades seguras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27940">
            <a:solidFill>
              <a:srgbClr val="64CC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3291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Ecommify · Análisis arquitectónico CAP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3364992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17320"/>
            <a:ext cx="3364992" cy="1645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82880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PostgreSQL inaccesible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2724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Navegar: sí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Comprar: no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97280" y="4160520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mantiene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457200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Consistencia financiera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1417320"/>
            <a:ext cx="3364992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417320"/>
            <a:ext cx="3364992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182880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6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MongoDB inaccesible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709160" y="2788920"/>
            <a:ext cx="2724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Checkout: sí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Catálogo enriquecido: no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00600" y="4160520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mantiene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457200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Núcleo transaccional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92440" y="1417320"/>
            <a:ext cx="3364992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2440" y="1417320"/>
            <a:ext cx="3364992" cy="164592"/>
          </a:xfrm>
          <a:prstGeom prst="rect">
            <a:avLst/>
          </a:prstGeom>
          <a:solidFill>
            <a:srgbClr val="21867A"/>
          </a:solidFill>
          <a:ln w="12700">
            <a:solidFill>
              <a:srgbClr val="2186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48472" y="182880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86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Sincronización retrasada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412480" y="2788920"/>
            <a:ext cx="2724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Servir proyección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Revalidar en checkout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03920" y="4160520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mantiene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0" y="457200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8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Disponibilidad controlada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Replication lag · El riesgo silencioso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disponibilidad puede ocultar datos obsoletos; la frescura debe medirse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27940">
            <a:solidFill>
              <a:srgbClr val="64CC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3291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Ecommify · Análisis arquitectónico CAP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2011680" cy="1143000"/>
          </a:xfrm>
          <a:prstGeom prst="chevron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3134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en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011680" cy="1143000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43230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Outbox / CDC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0" y="2011680"/>
            <a:ext cx="2011680" cy="1143000"/>
          </a:xfrm>
          <a:prstGeom prst="chevron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313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Proyección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92440" y="2011680"/>
            <a:ext cx="2011680" cy="1143000"/>
          </a:xfrm>
          <a:prstGeom prst="chevron">
            <a:avLst/>
          </a:prstGeom>
          <a:solidFill>
            <a:srgbClr val="21867A"/>
          </a:solidFill>
          <a:ln w="12700">
            <a:solidFill>
              <a:srgbClr val="2186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2313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37560" y="3749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24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VENTANA DE INCONSISTENCIA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103120" y="4343400"/>
            <a:ext cx="79552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31140" indent="-231140">
              <a:buSzPct val="100000"/>
              <a:buChar char="•"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académico: hasta 6 horas + reintentos</a:t>
            </a:r>
            <a:endParaRPr lang="en-US" sz="1400" dirty="0"/>
          </a:p>
          <a:p>
            <a:pPr marL="231140" indent="-231140">
              <a:buSzPct val="100000"/>
              <a:buChar char="•"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Producción: CDC y SLO explícito</a:t>
            </a:r>
            <a:endParaRPr lang="en-US" sz="1400" dirty="0"/>
          </a:p>
          <a:p>
            <a:pPr marL="231140" indent="-231140">
              <a:buSzPct val="100000"/>
              <a:buChar char="•"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source_updated_at evita sobrescrituras fuera de orden</a:t>
            </a:r>
            <a:endParaRPr lang="en-US" sz="1400" dirty="0"/>
          </a:p>
          <a:p>
            <a:pPr marL="231140" indent="-231140">
              <a:buSzPct val="100000"/>
              <a:buChar char="•"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 y stock siempre se revalidan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escenarios críticos de negocio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misma plataforma cambia su prioridad según el momento operacional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27940">
            <a:solidFill>
              <a:srgbClr val="64CC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3291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Ecommify · Análisis arquitectónico CAP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3429000" cy="42519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71600"/>
            <a:ext cx="73152" cy="4251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276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Black Friday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3017520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 para navegar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 para comprar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Caché + preescalamiento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 breaker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Revalidación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0832" y="1371600"/>
            <a:ext cx="3429000" cy="42519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1371600"/>
            <a:ext cx="73152" cy="4251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6276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Checkout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99432" y="2194560"/>
            <a:ext cx="3017520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 estricto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Transacción ACID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Idempotency key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Outbox asíncrono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pending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65008" y="1371600"/>
            <a:ext cx="3429000" cy="42519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5008" y="1371600"/>
            <a:ext cx="73152" cy="4251960"/>
          </a:xfrm>
          <a:prstGeom prst="rect">
            <a:avLst/>
          </a:prstGeom>
          <a:solidFill>
            <a:srgbClr val="21867A"/>
          </a:solidFill>
          <a:ln w="12700">
            <a:solidFill>
              <a:srgbClr val="2186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16276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86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Auditoría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93608" y="2194560"/>
            <a:ext cx="3017520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 y trazabilidad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 de corte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 =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Conciliación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 controlado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4CCC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Decisión arquitectónica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77240" y="16002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Mantener el modelo híbrido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degradación controlada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914400" y="3154680"/>
            <a:ext cx="694944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280670" indent="-280670">
              <a:buSzPct val="100000"/>
              <a:buChar char="•"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 protege dinero, inventario y estado canónico</a:t>
            </a:r>
            <a:endParaRPr lang="en-US" sz="1700" dirty="0"/>
          </a:p>
          <a:p>
            <a:pPr marL="280670" indent="-280670">
              <a:buSzPct val="100000"/>
              <a:buChar char="•"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 sostiene navegación, sesiones y eventos</a:t>
            </a:r>
            <a:endParaRPr lang="en-US" sz="1700" dirty="0"/>
          </a:p>
          <a:p>
            <a:pPr marL="280670" indent="-280670">
              <a:buSzPct val="100000"/>
              <a:buChar char="•"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Outbox e idempotencia controlan la sincronización</a:t>
            </a:r>
            <a:endParaRPr lang="en-US" sz="1700" dirty="0"/>
          </a:p>
          <a:p>
            <a:pPr marL="280670" indent="-280670">
              <a:buSzPct val="100000"/>
              <a:buChar char="•"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Observabilidad convierte lag y fallas en riesgos medibles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458200" y="1325880"/>
            <a:ext cx="2880360" cy="4297680"/>
          </a:xfrm>
          <a:prstGeom prst="roundRect">
            <a:avLst>
              <a:gd name="adj" fmla="val 2540"/>
            </a:avLst>
          </a:prstGeom>
          <a:solidFill>
            <a:srgbClr val="176B87">
              <a:alpha val="90000"/>
            </a:srgbClr>
          </a:solidFill>
          <a:ln w="12700">
            <a:solidFill>
              <a:srgbClr val="64CCC5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23960" y="1828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E4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B8E4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ACCIONES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32520" y="278892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Preagregar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Medir lag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Probar failover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Reconciliar outbox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59893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tolerancia a particiones no elimina el trade-off; lo hace explícito.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arquitectónico CAP — Ecommify</dc:title>
  <dc:subject>Unidad 6 Etapa 1 formativa</dc:subject>
  <dc:creator>Equipo Ecommify</dc:creator>
  <cp:lastModifiedBy>Equipo Ecommify</cp:lastModifiedBy>
  <cp:revision>1</cp:revision>
  <dcterms:created xsi:type="dcterms:W3CDTF">2026-06-20T20:04:32Z</dcterms:created>
  <dcterms:modified xsi:type="dcterms:W3CDTF">2026-06-20T20:04:32Z</dcterms:modified>
</cp:coreProperties>
</file>