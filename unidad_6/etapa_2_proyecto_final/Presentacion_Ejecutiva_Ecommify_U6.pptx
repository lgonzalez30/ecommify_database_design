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Throughput mediano (ops/s)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176B87"/>
            </a:solidFill>
            <a:ln w="38100" cap="flat">
              <a:solidFill>
                <a:srgbClr val="176B8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6B87"/>
              </a:solidFill>
              <a:ln w="9525" cap="flat">
                <a:solidFill>
                  <a:srgbClr val="176B8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10</c:v>
                  </c:pt>
                  <c:pt idx="2">
                    <c:v>25</c:v>
                  </c:pt>
                  <c:pt idx="3">
                    <c:v>50</c:v>
                  </c:pt>
                  <c:pt idx="4">
                    <c:v>100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400.39</c:v>
                </c:pt>
                <c:pt idx="1">
                  <c:v>626.68</c:v>
                </c:pt>
                <c:pt idx="2">
                  <c:v>560.7</c:v>
                </c:pt>
                <c:pt idx="3">
                  <c:v>565.91</c:v>
                </c:pt>
                <c:pt idx="4">
                  <c:v>540.56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Latencia p95 (ms)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</c:v>
                </c:pt>
              </c:strCache>
            </c:strRef>
          </c:tx>
          <c:spPr>
            <a:solidFill>
              <a:srgbClr val="C2413B"/>
            </a:solidFill>
            <a:ln w="38100" cap="flat">
              <a:solidFill>
                <a:srgbClr val="C241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2413B"/>
              </a:solidFill>
              <a:ln w="9525" cap="flat">
                <a:solidFill>
                  <a:srgbClr val="C241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10</c:v>
                  </c:pt>
                  <c:pt idx="2">
                    <c:v>25</c:v>
                  </c:pt>
                  <c:pt idx="3">
                    <c:v>50</c:v>
                  </c:pt>
                  <c:pt idx="4">
                    <c:v>100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71</c:v>
                </c:pt>
                <c:pt idx="2">
                  <c:v>190</c:v>
                </c:pt>
                <c:pt idx="3">
                  <c:v>252</c:v>
                </c:pt>
                <c:pt idx="4">
                  <c:v>396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"/>
          <c:min val="0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Throughput (ops/s)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176B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 · 1x</c:v>
                  </c:pt>
                  <c:pt idx="1">
                    <c:v>M · 5x</c:v>
                  </c:pt>
                  <c:pt idx="2">
                    <c:v>L · 10x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621.83</c:v>
                </c:pt>
                <c:pt idx="1">
                  <c:v>164.73</c:v>
                </c:pt>
                <c:pt idx="2">
                  <c:v>91.94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Latencia p95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</c:v>
                </c:pt>
              </c:strCache>
            </c:strRef>
          </c:tx>
          <c:spPr>
            <a:solidFill>
              <a:srgbClr val="C241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 · 1x</c:v>
                  </c:pt>
                  <c:pt idx="1">
                    <c:v>M · 5x</c:v>
                  </c:pt>
                  <c:pt idx="2">
                    <c:v>L · 10x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309</c:v>
                </c:pt>
                <c:pt idx="2">
                  <c:v>568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l"/>
        <c:majorGridlines>
          <c:spPr>
            <a:ln w="12700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al equipo y explicar que la exposición se enfoca en decisiones, evidencia y próximos 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la tecnología no cambia; cambia el orden de inversión y optimización.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EC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6858000"/>
          </a:xfrm>
          <a:prstGeom prst="rect">
            <a:avLst/>
          </a:prstGeom>
          <a:solidFill>
            <a:srgbClr val="64CCC5"/>
          </a:solidFill>
          <a:ln w="12700">
            <a:solidFill>
              <a:srgbClr val="64CCC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138160" y="-1371600"/>
            <a:ext cx="5120640" cy="5120640"/>
          </a:xfrm>
          <a:prstGeom prst="arc">
            <a:avLst/>
          </a:prstGeom>
          <a:solidFill>
            <a:srgbClr val="176B87">
              <a:alpha val="82000"/>
            </a:srgbClr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8961120" y="3200400"/>
            <a:ext cx="4206240" cy="4206240"/>
          </a:xfrm>
          <a:prstGeom prst="arc">
            <a:avLst/>
          </a:prstGeom>
          <a:solidFill>
            <a:srgbClr val="64CCC5">
              <a:alpha val="75000"/>
            </a:srgbClr>
          </a:solidFill>
          <a:ln w="12700">
            <a:solidFill>
              <a:srgbClr val="64CCC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4CC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ECOMMIFY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híbrida, rendimiento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estrategia de evolución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04672" y="3429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E4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EJECUTIVA · UNIDAD 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51663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Maestría en Arquitectura de Software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La Sabana · Junio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596188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Andrés F. Díaz · Carlos A. Arévalo · Luis A. González · Andrés C. López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ejecutivo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confirma la arquitectura, pero cambia la prioridad de optimización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921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291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Unidad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4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417320"/>
            <a:ext cx="73152" cy="141732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6184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59536" y="2130552"/>
            <a:ext cx="31089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corridas distintas de 120 segundos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0832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4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0832" y="1417320"/>
            <a:ext cx="73152" cy="1417320"/>
          </a:xfrm>
          <a:prstGeom prst="rect">
            <a:avLst/>
          </a:prstGeom>
          <a:solidFill>
            <a:srgbClr val="21867A"/>
          </a:solidFill>
          <a:ln w="12700">
            <a:solidFill>
              <a:srgbClr val="2186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184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626,68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572000" y="2130552"/>
            <a:ext cx="31089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operaciones/s: máximo throughput mediano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83296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4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83296" y="1417320"/>
            <a:ext cx="73152" cy="1417320"/>
          </a:xfrm>
          <a:prstGeom prst="rect">
            <a:avLst/>
          </a:prstGeom>
          <a:solidFill>
            <a:srgbClr val="64CCC5"/>
          </a:solidFill>
          <a:ln w="12700">
            <a:solidFill>
              <a:srgbClr val="64CC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61848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0 %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284464" y="2130552"/>
            <a:ext cx="31089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en todas las ejecuciones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3246120"/>
            <a:ext cx="10853928" cy="2331720"/>
          </a:xfrm>
          <a:prstGeom prst="roundRect">
            <a:avLst>
              <a:gd name="adj" fmla="val 3137"/>
            </a:avLst>
          </a:prstGeom>
          <a:solidFill>
            <a:srgbClr val="EAF4F5"/>
          </a:solidFill>
          <a:ln w="12700">
            <a:solidFill>
              <a:srgbClr val="B8E4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47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6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 ejecutiva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4400" y="4041648"/>
            <a:ext cx="100126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la arquitectura híbrida y priorizar cuatro acciones: preagregar analítica, desacoplar el checkout con outbox, incorporar caché de catálogo y medir el lag entre motores.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desafío de negocio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marketplace combina requisitos que no deben resolverse con una única política de datos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921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291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Unidad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310128" cy="347472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01368" y="1783080"/>
            <a:ext cx="1051560" cy="10515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1368" y="20116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657600"/>
            <a:ext cx="2670048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Pagos, órdenes e inventario no toleran estados divergentes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3310128" cy="347472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04688" y="1783080"/>
            <a:ext cx="1051560" cy="1051560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4688" y="20116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306324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3657600"/>
            <a:ext cx="2670048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y sesiones deben continuar ante fallas parciales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2440" y="1417320"/>
            <a:ext cx="3310128" cy="347472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08008" y="1783080"/>
            <a:ext cx="1051560" cy="1051560"/>
          </a:xfrm>
          <a:prstGeom prst="ellipse">
            <a:avLst/>
          </a:prstGeom>
          <a:solidFill>
            <a:srgbClr val="21867A"/>
          </a:solidFill>
          <a:ln w="12700">
            <a:solidFill>
              <a:srgbClr val="2186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8008" y="20116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21040" y="306324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8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3657600"/>
            <a:ext cx="2670048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y analítica crecen más rápido que las transacciones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5349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Respuesta: persistencia políglota con responsabilidades explícitas y reglas de sincronización.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implementada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conserva el estado canónico; MongoDB optimiza proyecciones y datos flexibles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921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291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Unidad 6</a:t>
            </a:r>
            <a:endParaRPr lang="en-US" sz="800" dirty="0"/>
          </a:p>
        </p:txBody>
      </p:sp>
      <p:pic>
        <p:nvPicPr>
          <p:cNvPr id="7" name="Image 0" descr="/Users/luisgonzalez/Documents/development/maestria/Bases_de_Datos/unidad4/Ecommify_Database_Design/docs/diagrams/arquitectura_hibr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768096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1325880"/>
            <a:ext cx="2907792" cy="425196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87968" y="1627632"/>
            <a:ext cx="1005840" cy="310896"/>
          </a:xfrm>
          <a:prstGeom prst="roundRect">
            <a:avLst>
              <a:gd name="adj" fmla="val 2941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87968" y="16733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012680" y="16642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887968" y="2103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Órdenes · pagos · inventario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maestro · promociones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887968" y="3090672"/>
            <a:ext cx="1005840" cy="310896"/>
          </a:xfrm>
          <a:prstGeom prst="roundRect">
            <a:avLst>
              <a:gd name="adj" fmla="val 29412"/>
            </a:avLst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87968" y="31363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012680" y="31272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887968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· reseñas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· sesiones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887968" y="4480560"/>
            <a:ext cx="2240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87968" y="46817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8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oro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887968" y="501091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Precio y stock se validan al confirmar la compra.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Decisiones técnicas que sostienen el negocio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implementación aprovecha capacidades nativas y limita el acoplamiento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921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291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Unidad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353312"/>
            <a:ext cx="5230368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448056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JSONB, arreglos y tipos compuestos</a:t>
            </a:r>
            <a:endParaRPr lang="en-US" sz="1500" dirty="0"/>
          </a:p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PostGIS y búsqueda pg_trgm</a:t>
            </a:r>
            <a:endParaRPr lang="en-US" sz="1500" dirty="0"/>
          </a:p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Particionamiento temporal</a:t>
            </a:r>
            <a:endParaRPr lang="en-US" sz="1500" dirty="0"/>
          </a:p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Índices B-tree, GIN, GiST y BRIN</a:t>
            </a:r>
            <a:endParaRPr lang="en-US" sz="1500" dirty="0"/>
          </a:p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Vistas materializadas y RBAC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353312"/>
            <a:ext cx="5321808" cy="4480560"/>
          </a:xfrm>
          <a:prstGeom prst="roundRect">
            <a:avLst>
              <a:gd name="adj" fmla="val 1633"/>
            </a:avLst>
          </a:prstGeom>
          <a:solidFill>
            <a:srgbClr val="EAF4F5"/>
          </a:solidFill>
          <a:ln w="12700">
            <a:solidFill>
              <a:srgbClr val="B8E4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6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46520" y="2194560"/>
            <a:ext cx="448056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Extended Reference para catálogo</a:t>
            </a:r>
            <a:endParaRPr lang="en-US" sz="1500" dirty="0"/>
          </a:p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Computed Pattern para derivados</a:t>
            </a:r>
            <a:endParaRPr lang="en-US" sz="1500" dirty="0"/>
          </a:p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Polymorphic Pattern para reseñas</a:t>
            </a:r>
            <a:endParaRPr lang="en-US" sz="1500" dirty="0"/>
          </a:p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Bucket Pattern para eventos</a:t>
            </a:r>
            <a:endParaRPr lang="en-US" sz="1500" dirty="0"/>
          </a:p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TTL para sesiones efímeras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28800" y="601675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8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no obvia: MongoDB sirve el catálogo, pero PostgreSQL conserva el producto canónico.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 de evaluación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reproducibles, estado restaurado y métricas orientadas a experiencia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921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291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Unidad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71016" y="1417320"/>
            <a:ext cx="777240" cy="777240"/>
          </a:xfrm>
          <a:prstGeom prst="ellipse">
            <a:avLst/>
          </a:prstGeom>
          <a:solidFill>
            <a:srgbClr val="176B8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1016" y="1618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139696" y="1636776"/>
            <a:ext cx="502920" cy="310896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18653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aislado y semillas deterministas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93008" y="1417320"/>
            <a:ext cx="777240" cy="777240"/>
          </a:xfrm>
          <a:prstGeom prst="ellipse">
            <a:avLst/>
          </a:prstGeom>
          <a:solidFill>
            <a:srgbClr val="176B8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618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361688" y="1636776"/>
            <a:ext cx="502920" cy="310896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53512" y="2926080"/>
            <a:ext cx="18653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JMeter no GUI · 120 s · rampa 10 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15000" y="1417320"/>
            <a:ext cx="777240" cy="777240"/>
          </a:xfrm>
          <a:prstGeom prst="ellipse">
            <a:avLst/>
          </a:prstGeom>
          <a:solidFill>
            <a:srgbClr val="176B8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1618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83680" y="1636776"/>
            <a:ext cx="502920" cy="310896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75504" y="2926080"/>
            <a:ext cx="18653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 · p50 · p95 · p99 · errores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36992" y="1417320"/>
            <a:ext cx="777240" cy="777240"/>
          </a:xfrm>
          <a:prstGeom prst="ellipse">
            <a:avLst/>
          </a:prstGeom>
          <a:solidFill>
            <a:srgbClr val="2186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36992" y="1618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805672" y="1636776"/>
            <a:ext cx="502920" cy="310896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24344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97496" y="2926080"/>
            <a:ext cx="18653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Concurrencia 1–100 · volumen 1x–10x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158984" y="1417320"/>
            <a:ext cx="777240" cy="777240"/>
          </a:xfrm>
          <a:prstGeom prst="ellipse">
            <a:avLst/>
          </a:prstGeom>
          <a:solidFill>
            <a:srgbClr val="2186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58984" y="1618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546336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19488" y="2926080"/>
            <a:ext cx="18653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CSV, JTL, HTML y gráficas SVG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60120" y="46634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4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60120" y="4663440"/>
            <a:ext cx="73152" cy="105156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61288" y="486460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1161288" y="5376672"/>
            <a:ext cx="2788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corridas de concurrencia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53712" y="46634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4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53712" y="4663440"/>
            <a:ext cx="73152" cy="1051560"/>
          </a:xfrm>
          <a:prstGeom prst="rect">
            <a:avLst/>
          </a:prstGeom>
          <a:solidFill>
            <a:srgbClr val="21867A"/>
          </a:solidFill>
          <a:ln w="12700">
            <a:solidFill>
              <a:srgbClr val="2186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86460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4754880" y="5376672"/>
            <a:ext cx="2788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corridas adicionales de volumen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38160" y="46634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9050" dist="50800" dir="2700000">
              <a:srgbClr val="AAB7C4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38160" y="4663440"/>
            <a:ext cx="73152" cy="1051560"/>
          </a:xfrm>
          <a:prstGeom prst="rect">
            <a:avLst/>
          </a:prstGeom>
          <a:solidFill>
            <a:srgbClr val="64CCC5"/>
          </a:solidFill>
          <a:ln w="12700">
            <a:solidFill>
              <a:srgbClr val="64CC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9328" y="486460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500" dirty="0"/>
          </a:p>
        </p:txBody>
      </p:sp>
      <p:sp>
        <p:nvSpPr>
          <p:cNvPr id="42" name="Text 40"/>
          <p:cNvSpPr/>
          <p:nvPr/>
        </p:nvSpPr>
        <p:spPr>
          <a:xfrm>
            <a:off x="8339328" y="5376672"/>
            <a:ext cx="2788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ejecuciones distintas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1 · Concurrencia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maximiza throughput con 10 usuarios y luego entra en saturación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921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291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Unidad 6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1353312"/>
          <a:ext cx="52578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36208" y="1353312"/>
          <a:ext cx="52578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3520440" y="58338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Punto de saturación: entre 10 y 25 usuarios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2 · Crecimiento 10x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operaciones simples resisten; la cola de latencia queda dominada por la analítica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921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291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Unidad 6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1353312"/>
          <a:ext cx="52578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36208" y="1353312"/>
          <a:ext cx="52578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3456432" y="583387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4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 → L: throughput −85,21 % · p95 +700 %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cuello de botella real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dashboard híbrido concentra la mayor degradación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921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291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Unidad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4800600" cy="4526280"/>
          </a:xfrm>
          <a:prstGeom prst="roundRect">
            <a:avLst>
              <a:gd name="adj" fmla="val 161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7452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64CC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517 ms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1143000" y="2788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del dashboard híbrido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100 usuarios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4041648"/>
            <a:ext cx="3657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 PostgreSQL y toda la colección de eventos MongoDB en línea.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2880360"/>
            <a:ext cx="685800" cy="64008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1325880"/>
            <a:ext cx="4864608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7728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Acciones prioritarias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903720" y="2331720"/>
            <a:ext cx="4069080" cy="2880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Preagregar por hora y día</a:t>
            </a:r>
            <a:endParaRPr lang="en-US" sz="1500" dirty="0"/>
          </a:p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analítica de cargas operativas</a:t>
            </a:r>
            <a:endParaRPr lang="en-US" sz="1500" dirty="0"/>
          </a:p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 outbox asíncronamente</a:t>
            </a:r>
            <a:endParaRPr lang="en-US" sz="1500" dirty="0"/>
          </a:p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Cachear catálogo y consultas frecuentes</a:t>
            </a:r>
            <a:endParaRPr lang="en-US" sz="1500" dirty="0"/>
          </a:p>
          <a:p>
            <a:pPr marL="247650" indent="-24765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Alertar por p95 y replication lag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 aplicado al negocio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política cambia por módulo y define cómo degradar el servicio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921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291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Unidad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353312"/>
            <a:ext cx="5230368" cy="4434840"/>
          </a:xfrm>
          <a:prstGeom prst="roundRect">
            <a:avLst>
              <a:gd name="adj" fmla="val 1649"/>
            </a:avLst>
          </a:prstGeom>
          <a:solidFill>
            <a:srgbClr val="E9EEF5"/>
          </a:solidFill>
          <a:ln w="12700">
            <a:solidFill>
              <a:srgbClr val="CAD5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691640"/>
            <a:ext cx="1005840" cy="310896"/>
          </a:xfrm>
          <a:prstGeom prst="roundRect">
            <a:avLst>
              <a:gd name="adj" fmla="val 2941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373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48840" y="17190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Consistencia primero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425196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64160" indent="-26416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Órdenes y pagos</a:t>
            </a:r>
            <a:endParaRPr lang="en-US" sz="1600" dirty="0"/>
          </a:p>
          <a:p>
            <a:pPr marL="264160" indent="-26416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</a:t>
            </a:r>
            <a:endParaRPr lang="en-US" sz="1600" dirty="0"/>
          </a:p>
          <a:p>
            <a:pPr marL="264160" indent="-26416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maestro</a:t>
            </a:r>
            <a:endParaRPr lang="en-US" sz="1600" dirty="0"/>
          </a:p>
          <a:p>
            <a:pPr marL="264160" indent="-26416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financiera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6634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Durante una partición: rechazar o diferir antes que confirmar estados divergentes.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6208" y="1353312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EAF4F5"/>
          </a:solidFill>
          <a:ln w="12700">
            <a:solidFill>
              <a:srgbClr val="B8E4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691640"/>
            <a:ext cx="1005840" cy="310896"/>
          </a:xfrm>
          <a:prstGeom prst="roundRect">
            <a:avLst>
              <a:gd name="adj" fmla="val 29412"/>
            </a:avLst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7373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26680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6B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Disponibilidad primero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37960" y="2331720"/>
            <a:ext cx="425196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64160" indent="-26416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</a:t>
            </a:r>
            <a:endParaRPr lang="en-US" sz="1600" dirty="0"/>
          </a:p>
          <a:p>
            <a:pPr marL="264160" indent="-26416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Reseñas</a:t>
            </a:r>
            <a:endParaRPr lang="en-US" sz="1600" dirty="0"/>
          </a:p>
          <a:p>
            <a:pPr marL="264160" indent="-26416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</a:t>
            </a:r>
            <a:endParaRPr lang="en-US" sz="1600" dirty="0"/>
          </a:p>
          <a:p>
            <a:pPr marL="264160" indent="-264160">
              <a:buSzPct val="100000"/>
              <a:buChar char="•"/>
            </a:pPr>
            <a:r>
              <a:rPr lang="en-US" sz="16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Sesiones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46634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Durante una partición: continuar con consistencia eventual y reconciliación.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evolución a producción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822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plan por horizontes reduce riesgo y alinea inversión con evidencia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29210">
            <a:solidFill>
              <a:srgbClr val="64CC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01400" y="3291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510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Ecommify · Unidad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508760"/>
            <a:ext cx="2450592" cy="356616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508760"/>
            <a:ext cx="2450592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8745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0–30 días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9536" y="2450592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ESTABILIZAR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" y="3182112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Preagregación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Outbox asíncrono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54680" y="2999232"/>
            <a:ext cx="347472" cy="475488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1508760"/>
            <a:ext cx="2450592" cy="356616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1508760"/>
            <a:ext cx="2450592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18745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30–60 días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02736" y="2450592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ACELERAR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75888" y="3182112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Caché de catálogo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 de lag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97880" y="2999232"/>
            <a:ext cx="347472" cy="475488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4768" y="1508760"/>
            <a:ext cx="2450592" cy="356616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1508760"/>
            <a:ext cx="2450592" cy="164592"/>
          </a:xfrm>
          <a:prstGeom prst="rect">
            <a:avLst/>
          </a:prstGeom>
          <a:solidFill>
            <a:srgbClr val="21867A"/>
          </a:solidFill>
          <a:ln w="12700">
            <a:solidFill>
              <a:srgbClr val="2186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18745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8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60–90 días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45936" y="2450592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19088" y="3182112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Observabilidad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Failover y backups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41080" y="2999232"/>
            <a:ext cx="347472" cy="475488"/>
          </a:xfrm>
          <a:prstGeom prst="chevron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87968" y="1508760"/>
            <a:ext cx="2450592" cy="356616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87968" y="1508760"/>
            <a:ext cx="2450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89136" y="18745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90+ días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89136" y="2450592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62288" y="3182112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Réplicas y evaluación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sharding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562356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Tecnologías habilitadoras: Redis · OpenTelemetry · CDC/Debezium · Flyway/Liquibase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27D9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4CCC5"/>
          </a:solidFill>
          <a:ln w="12700">
            <a:solidFill>
              <a:srgbClr val="64CC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31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4CC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arquitectura híbrida fue correcta.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medición mostró cómo hacerla sostenible.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749808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80670" indent="-28067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protege el núcleo financiero.</a:t>
            </a:r>
            <a:endParaRPr lang="en-US" sz="1700" dirty="0"/>
          </a:p>
          <a:p>
            <a:pPr marL="280670" indent="-28067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aporta flexibilidad y disponibilidad.</a:t>
            </a:r>
            <a:endParaRPr lang="en-US" sz="1700" dirty="0"/>
          </a:p>
          <a:p>
            <a:pPr marL="280670" indent="-28067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dashboard requiere una capa analítica preagregada.</a:t>
            </a:r>
            <a:endParaRPr lang="en-US" sz="1700" dirty="0"/>
          </a:p>
          <a:p>
            <a:pPr marL="280670" indent="-280670">
              <a:buSzPct val="100000"/>
              <a:buChar char="•"/>
            </a:pPr>
            <a:r>
              <a:rPr lang="en-US" sz="1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próximo salto es operativo: observabilidad, lag y automatización.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915400" y="1280160"/>
            <a:ext cx="2423160" cy="4206240"/>
          </a:xfrm>
          <a:prstGeom prst="roundRect">
            <a:avLst>
              <a:gd name="adj" fmla="val 3019"/>
            </a:avLst>
          </a:prstGeom>
          <a:solidFill>
            <a:srgbClr val="176B87">
              <a:alpha val="88000"/>
            </a:srgbClr>
          </a:solidFill>
          <a:ln w="12700">
            <a:solidFill>
              <a:srgbClr val="64CCC5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0" y="1874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E4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8E4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62288" y="28803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Priorizar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preagregación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outbox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asíncrono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4672" y="6144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Gracias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de La Sabana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Ecommify — Presentación ejecutiva</dc:title>
  <dc:subject>Arquitectura híbrida y evaluación de rendimiento</dc:subject>
  <dc:creator>Equipo Ecommify</dc:creator>
  <cp:lastModifiedBy>Equipo Ecommify</cp:lastModifiedBy>
  <cp:revision>1</cp:revision>
  <dcterms:created xsi:type="dcterms:W3CDTF">2026-06-20T19:06:03Z</dcterms:created>
  <dcterms:modified xsi:type="dcterms:W3CDTF">2026-06-20T19:06:03Z</dcterms:modified>
</cp:coreProperties>
</file>